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F0F6FC"/>
                </a:solidFill>
                <a:latin typeface="Calibri"/>
              </a:rPr>
              <a:t>AP II — DevSecOps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58A6FF"/>
                </a:solidFill>
                <a:latin typeface="Calibri"/>
              </a:rPr>
              <a:t>Construção de uma Esteira CI/CD Segura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0BAC5"/>
                </a:solidFill>
                <a:latin typeface="Calibri"/>
              </a:rPr>
              <a:t>Cenário proposto no enunciado: empresa fictícia TechSecure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Vitor Emanuel Santiago (RA 2501093)   •   Rafael Neves (RA 2503380)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Guilherme Lopes (RA 2502595)   •   Viniccius Cezario (RA 2504060)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629400"/>
            <a:ext cx="12191695" cy="2286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Objetivo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6FC"/>
                </a:solidFill>
                <a:latin typeface="Calibri"/>
              </a:rPr>
              <a:t>Desenvolver uma esteira de CI/CD aplicando práticas de DevSecOps: uma aplicação simples em container, com integração e deploy automatizados e segurança integrada ao pipeline (shift-left).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34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822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982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3270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270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Teste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430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7187" y="3657600"/>
            <a:ext cx="1417320" cy="100584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718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Security</a:t>
            </a:r>
          </a:p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878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166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166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Imagem</a:t>
            </a:r>
          </a:p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326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9614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9614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7747" y="3657600"/>
            <a:ext cx="228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0627" y="3657600"/>
            <a:ext cx="1417320" cy="1005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0627" y="3657600"/>
            <a:ext cx="1417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0F6FC"/>
                </a:solidFill>
                <a:latin typeface="Calibri"/>
              </a:rPr>
              <a:t>Container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0BAC5"/>
                </a:solidFill>
                <a:latin typeface="Calibri"/>
              </a:rPr>
              <a:t>A segurança é executada automaticamente a cada alteração, antes do deploy.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Cenário e Aplicação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3891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8A6FF"/>
                </a:solidFill>
                <a:latin typeface="Calibri"/>
              </a:rPr>
              <a:t>Cenário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937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6FC"/>
                </a:solidFill>
                <a:latin typeface="Calibri"/>
              </a:rPr>
              <a:t>A TechSecure Solutions quer reduzir erros de implantação e incorporar segurança ao ciclo de desenvolvimento.</a:t>
            </a:r>
          </a:p>
          <a:p>
            <a:pPr algn="l"/>
            <a:r>
              <a:rPr sz="1700" b="0">
                <a:solidFill>
                  <a:srgbClr val="F0F6FC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F0F6FC"/>
                </a:solidFill>
                <a:latin typeface="Calibri"/>
              </a:rPr>
              <a:t>Cada grupo cria uma prova de conceito de esteira CI/CD automatizada, do commit ao container em execução.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3891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8A6FF"/>
                </a:solidFill>
                <a:latin typeface="Calibri"/>
              </a:rPr>
              <a:t>Aplicação (PoC)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  <a:latin typeface="Calibri"/>
              </a:rPr>
              <a:t>API REST de tarefas em Node.js + Express (dados em memória).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B0BAC5"/>
                </a:solidFill>
                <a:latin typeface="Calibri"/>
              </a:rPr>
              <a:t>•  GET /  — status da aplicação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0BAC5"/>
                </a:solidFill>
                <a:latin typeface="Calibri"/>
              </a:rPr>
              <a:t>•  GET /health  — healthcheck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0BAC5"/>
                </a:solidFill>
                <a:latin typeface="Calibri"/>
              </a:rPr>
              <a:t>•  GET /tarefas  — lista tarefas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0BAC5"/>
                </a:solidFill>
                <a:latin typeface="Calibri"/>
              </a:rPr>
              <a:t>•  POST /tarefas  — cria tarefa (valida payload)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Tecnologias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3727" y="1828800"/>
            <a:ext cx="2103120" cy="64008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Versionamento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Git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04007" y="1828800"/>
            <a:ext cx="2103120" cy="64008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400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16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GitHub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428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4287" y="1828800"/>
            <a:ext cx="2103120" cy="640080"/>
          </a:xfrm>
          <a:prstGeom prst="round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428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44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Docker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node:20-alpine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usuário não-root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456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84567" y="1828800"/>
            <a:ext cx="2103120" cy="64008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456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Testes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172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Jest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Supertest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4847" y="1828800"/>
            <a:ext cx="210312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24847" y="1828800"/>
            <a:ext cx="2103120" cy="640080"/>
          </a:xfrm>
          <a:prstGeom prst="round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4847" y="182880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1117"/>
                </a:solidFill>
                <a:latin typeface="Calibri"/>
              </a:rPr>
              <a:t>Segurança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007" y="2651760"/>
            <a:ext cx="1828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Trivy (fs + imagem)</a:t>
            </a:r>
          </a:p>
          <a:p>
            <a:pPr algn="ctr"/>
            <a:r>
              <a:rPr sz="1500" b="0">
                <a:solidFill>
                  <a:srgbClr val="F0F6FC"/>
                </a:solidFill>
                <a:latin typeface="Calibri"/>
              </a:rPr>
              <a:t>npm audit (SCA)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A Pipeline (GitHub Actions)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0BAC5"/>
                </a:solidFill>
                <a:latin typeface="Calibri"/>
              </a:rPr>
              <a:t>Disparada automaticamente a cada push / pull request na branch main — 3 jobs encadeados: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2011680"/>
            <a:ext cx="356616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007" y="2011680"/>
            <a:ext cx="3566160" cy="7315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201168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Calibri"/>
              </a:rPr>
              <a:t>1 · build-test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0175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Instala dependências (build)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Executa testes (Jest)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5/5 • 100% cobertura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8447" y="2011680"/>
            <a:ext cx="41148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3FB95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767" y="2011680"/>
            <a:ext cx="356616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2767" y="2011680"/>
            <a:ext cx="3566160" cy="731520"/>
          </a:xfrm>
          <a:prstGeom prst="round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2767" y="201168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Calibri"/>
              </a:rPr>
              <a:t>2 · security-scan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30175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npm audit (dependências)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Trivy (filesystem)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Relatório como artefato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3207" y="2011680"/>
            <a:ext cx="41148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3FB95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2011680"/>
            <a:ext cx="3566160" cy="32918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7527" y="2011680"/>
            <a:ext cx="3566160" cy="73152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7527" y="201168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Calibri"/>
              </a:rPr>
              <a:t>3 · build-deploy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30175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Build da imagem Docker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Trivy na imagem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0F6FC"/>
                </a:solidFill>
                <a:latin typeface="Calibri"/>
              </a:rPr>
              <a:t>•  Deploy + smoke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Análise de Segurança — Achado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420624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Vulnerabilidade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5149"/>
                </a:solidFill>
                <a:latin typeface="Calibri"/>
              </a:rPr>
              <a:t>braces — stack-exhaustion Denial of Service (GHSA-vfj7-8cjw-p6xm)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Componente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59152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  <a:latin typeface="Calibri"/>
              </a:rPr>
              <a:t>pacote braces (transitivo: micromatch → jest)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80944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Severidade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80944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85149"/>
                </a:solidFill>
                <a:latin typeface="Calibri"/>
              </a:rPr>
              <a:t>HIGH (Alta)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2736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Detecção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02736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6FC"/>
                </a:solidFill>
                <a:latin typeface="Calibri"/>
              </a:rPr>
              <a:t>automática via npm audit na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Correção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24528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FB950"/>
                </a:solidFill>
                <a:latin typeface="Calibri"/>
              </a:rPr>
              <a:t>npm audit fix --force  /  fixar braces &gt;= 3.0.3 em overrides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Mitigação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846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FB950"/>
                </a:solidFill>
                <a:latin typeface="Calibri"/>
              </a:rPr>
              <a:t>é devDependency; Dockerfile usa --omit=dev → não vai p/ produção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Evidência — Pipeline e Testes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01_pipeline_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486400" cy="2120168"/>
          </a:xfrm>
          <a:prstGeom prst="rect">
            <a:avLst/>
          </a:prstGeom>
        </p:spPr>
      </p:pic>
      <p:pic>
        <p:nvPicPr>
          <p:cNvPr id="7" name="Picture 6" descr="02_build_tes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486400" cy="2566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Evidência — Security Scan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03_security_npm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486400" cy="2120168"/>
          </a:xfrm>
          <a:prstGeom prst="rect">
            <a:avLst/>
          </a:prstGeom>
        </p:spPr>
      </p:pic>
      <p:pic>
        <p:nvPicPr>
          <p:cNvPr id="7" name="Picture 6" descr="06_trivy_im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486400" cy="1785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Evidência — Build, Deploy e App no 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05_docker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486400" cy="1896993"/>
          </a:xfrm>
          <a:prstGeom prst="rect">
            <a:avLst/>
          </a:prstGeom>
        </p:spPr>
      </p:pic>
      <p:pic>
        <p:nvPicPr>
          <p:cNvPr id="7" name="Picture 6" descr="07_deploy_cont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486400" cy="14506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Demonstração ao Vivo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0F6FC"/>
                </a:solidFill>
                <a:latin typeface="Calibri"/>
              </a:rPr>
              <a:t>•  Aplicação funcionando no container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0F6FC"/>
                </a:solidFill>
                <a:latin typeface="Calibri"/>
              </a:rPr>
              <a:t>•  Alteração simples no código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0F6FC"/>
                </a:solidFill>
                <a:latin typeface="Calibri"/>
              </a:rPr>
              <a:t>•  Commit e push para o GitHub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3FB950"/>
                </a:solidFill>
                <a:latin typeface="Calibri"/>
              </a:rPr>
              <a:t>•  Pipeline iniciando automaticamente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3FB950"/>
                </a:solidFill>
                <a:latin typeface="Calibri"/>
              </a:rPr>
              <a:t>•  Build → Teste → Security scan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3FB950"/>
                </a:solidFill>
                <a:latin typeface="Calibri"/>
              </a:rPr>
              <a:t>•  Build da imagem Docker → Deploy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0F6FC"/>
                </a:solidFill>
                <a:latin typeface="Calibri"/>
              </a:rPr>
              <a:t>•  Aplicação atualizada e no 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6FC"/>
                </a:solidFill>
                <a:latin typeface="Calibri"/>
              </a:rP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011680" cy="4572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0BAC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6FC"/>
                </a:solidFill>
                <a:latin typeface="Calibri"/>
              </a:rPr>
              <a:t>Construímos uma esteira CI/CD com segurança integrada (DevSecOps). Todo código enviado ao repositório passa por build, testes e análise de segurança antes do deploy — deslocando a segurança para o início do ciclo (shift-left).</a:t>
            </a:r>
          </a:p>
          <a:p>
            <a:pPr algn="l"/>
            <a:r>
              <a:rPr sz="2000" b="0">
                <a:solidFill>
                  <a:srgbClr val="F0F6FC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F0F6FC"/>
                </a:solidFill>
                <a:latin typeface="Calibri"/>
              </a:rPr>
              <a:t>O achado de vulnerabilidade identificado automaticamente comprova o valor de integrar verificações de segurança ao pipeline, reduzindo riscos antes da aplicação chegar ao ambiente de execução.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Calibri"/>
              </a:rPr>
              <a:t>github.com/vitoremanuel-lgtm/devsecops-ap2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0F6FC"/>
                </a:solidFill>
                <a:latin typeface="Calibri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58A6FF"/>
                </a:solidFill>
                <a:latin typeface="Calibri"/>
              </a:rPr>
              <a:t>Perguntas?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6629400"/>
            <a:ext cx="12191695" cy="22860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